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Patent Corpus Semantic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E9C46A"/>
                </a:solidFill>
              </a:rPr>
              <a:t>DEMO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383280"/>
            <a:ext cx="5788152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Group 22  |  Project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8D8EA"/>
                </a:solidFill>
              </a:rPr>
              <a:t>CSE 573 Spring 2026  |  Arizona State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8D8EA"/>
                </a:solidFill>
              </a:rPr>
              <a:t>Akshith Reddy Vempati  |  Reethika Gogireddy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9C46A"/>
                </a:solidFill>
              </a:rPr>
              <a:t>April 27,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9C46A"/>
                </a:solidFill>
              </a:rPr>
              <a:t>Why automated patent analysis?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8EA"/>
                </a:solidFill>
              </a:rPr>
              <a:t>Group 22  |  Project 9  |  CSE 573 Spring 2026  |  Arizona State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222222"/>
                </a:solidFill>
              </a:rPr>
              <a:t>•  4+ million active US patents across hundreds of CPC technology classes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22222"/>
                </a:solidFill>
              </a:rPr>
              <a:t>•  Manual review is impossible at scale — researchers need fast discovery tools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22222"/>
                </a:solidFill>
              </a:rPr>
              <a:t>•  Patents use highly technical, domain-specific language with minimal overlap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22222"/>
                </a:solidFill>
              </a:rPr>
              <a:t>•  Existing tools lack semantic understanding — keyword search misses synonyms and paraphrases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222222"/>
                </a:solidFill>
              </a:rPr>
              <a:t>•  Goal: cluster large patent corpora by topic, extract cluster summaries, and rank by relevance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806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Our system automates patent discovery using TF-IDF, LDA, and Sentence-BERT embeddings combined with K-Means and Hierarchical clustering to reveal hidden topical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9C46A"/>
                </a:solidFill>
              </a:rPr>
              <a:t>7-stage end-to-end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8EA"/>
                </a:solidFill>
              </a:rPr>
              <a:t>Group 22  |  Project 9  |  CSE 573 Spring 2026  |  Arizona State University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03454" y="1463040"/>
            <a:ext cx="1508760" cy="43891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3454" y="1463040"/>
            <a:ext cx="1508760" cy="5029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174" y="1481328"/>
            <a:ext cx="14173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3460"/>
                </a:solidFill>
              </a:rPr>
              <a:t>1.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606" y="2057400"/>
            <a:ext cx="13624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Real USPTO patents
HuggingFace big_patent
500 patents / 5 domains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2501" y="3520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3460"/>
                </a:solidFill>
              </a:rPr>
              <a:t>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15668" y="1463040"/>
            <a:ext cx="1508760" cy="43891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15668" y="1463040"/>
            <a:ext cx="1508760" cy="5029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1388" y="1481328"/>
            <a:ext cx="14173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3460"/>
                </a:solidFill>
              </a:rPr>
              <a:t>2. 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8820" y="2057400"/>
            <a:ext cx="13624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Lowercasing, punct strip
Stopword removal
Lemmatisation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4715" y="3520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3460"/>
                </a:solidFill>
              </a:rPr>
              <a:t>-&gt;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27882" y="1463040"/>
            <a:ext cx="1508760" cy="43891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27882" y="1463040"/>
            <a:ext cx="1508760" cy="5029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3602" y="1481328"/>
            <a:ext cx="14173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3460"/>
                </a:solidFill>
              </a:rPr>
              <a:t>3. Feature Eng.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1034" y="2057400"/>
            <a:ext cx="13624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TF-IDF + LSA
LDA topics
Sentence-BERT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6929" y="3520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3460"/>
                </a:solidFill>
              </a:rPr>
              <a:t>-&gt;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0096" y="1463040"/>
            <a:ext cx="1508760" cy="43891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0096" y="1463040"/>
            <a:ext cx="1508760" cy="5029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85816" y="1481328"/>
            <a:ext cx="14173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3460"/>
                </a:solidFill>
              </a:rPr>
              <a:t>4. Clustering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3248" y="2057400"/>
            <a:ext cx="13624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K-Means++
Hierarchical (Ward)
Optimal-k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9143" y="3520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3460"/>
                </a:solidFill>
              </a:rPr>
              <a:t>-&gt;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2310" y="1463040"/>
            <a:ext cx="1508760" cy="43891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52310" y="1463040"/>
            <a:ext cx="1508760" cy="5029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98030" y="1481328"/>
            <a:ext cx="14173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3460"/>
                </a:solidFill>
              </a:rPr>
              <a:t>5. Summarization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25462" y="2057400"/>
            <a:ext cx="13624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TF-IDF sentence rank
Keyword extraction
ROUGE 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71357" y="3520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3460"/>
                </a:solidFill>
              </a:rPr>
              <a:t>-&gt;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64524" y="1463040"/>
            <a:ext cx="1508760" cy="43891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64524" y="1463040"/>
            <a:ext cx="1508760" cy="5029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10244" y="1481328"/>
            <a:ext cx="14173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3460"/>
                </a:solidFill>
              </a:rPr>
              <a:t>6. Visualization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7676" y="2057400"/>
            <a:ext cx="13624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t-SNE / PCA 2D
Metrics bar chart
Topic heatmap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3571" y="3520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3460"/>
                </a:solidFill>
              </a:rPr>
              <a:t>-&gt;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76738" y="1463040"/>
            <a:ext cx="1508760" cy="43891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476738" y="1463040"/>
            <a:ext cx="1508760" cy="5029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22458" y="1481328"/>
            <a:ext cx="14173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3460"/>
                </a:solidFill>
              </a:rPr>
              <a:t>7. Report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49890" y="2057400"/>
            <a:ext cx="136245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Self-contained HTML
Base64 embedded imgs
All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9C46A"/>
                </a:solidFill>
              </a:rPr>
              <a:t>Real USPTO Patents via HuggingFace big_patent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8EA"/>
                </a:solidFill>
              </a:rPr>
              <a:t>Group 22  |  Project 9  |  CSE 573 Spring 2026  |  Arizona State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13E"/>
                </a:solidFill>
              </a:rPr>
              <a:t>5,000 real USPTO patent abstracts streamed from the big_patent dataset (Sharma et al., 2019)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1097280" cy="411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7568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CPC Section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" y="2011680"/>
            <a:ext cx="1188720" cy="411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0756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CPC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011680"/>
            <a:ext cx="5943600" cy="411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207568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Technology Domain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2011680"/>
            <a:ext cx="1097280" cy="411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07568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423160"/>
            <a:ext cx="109728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3" y="2487168"/>
            <a:ext cx="987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6213E"/>
                </a:solidFill>
              </a:rPr>
              <a:t>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2423160"/>
            <a:ext cx="118872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46504" y="2487168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6213E"/>
                </a:solidFill>
              </a:rPr>
              <a:t>G06N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2423160"/>
            <a:ext cx="5943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80944" y="2487168"/>
            <a:ext cx="5833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213E"/>
                </a:solidFill>
              </a:rPr>
              <a:t>Machine Learning / Artificial Intelligence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15400" y="2423160"/>
            <a:ext cx="109728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0264" y="2487168"/>
            <a:ext cx="987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6213E"/>
                </a:solidFill>
              </a:rPr>
              <a:t>1,000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83464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3" y="2898648"/>
            <a:ext cx="987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6213E"/>
                </a:solidFill>
              </a:rPr>
              <a:t>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91640" y="2834640"/>
            <a:ext cx="1188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46504" y="2898648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6213E"/>
                </a:solidFill>
              </a:rPr>
              <a:t>H01L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2834640"/>
            <a:ext cx="5943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80944" y="2898648"/>
            <a:ext cx="5833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213E"/>
                </a:solidFill>
              </a:rPr>
              <a:t>Semiconductor / Electronics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15400" y="283464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70264" y="2898648"/>
            <a:ext cx="987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6213E"/>
                </a:solidFill>
              </a:rPr>
              <a:t>1,000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246120"/>
            <a:ext cx="109728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3" y="3310128"/>
            <a:ext cx="987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6213E"/>
                </a:solidFill>
              </a:rPr>
              <a:t>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91640" y="3246120"/>
            <a:ext cx="118872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46504" y="3310128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6213E"/>
                </a:solidFill>
              </a:rPr>
              <a:t>A61B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3246120"/>
            <a:ext cx="5943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80944" y="3310128"/>
            <a:ext cx="5833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213E"/>
                </a:solidFill>
              </a:rPr>
              <a:t>Biotechnology / Medical Devices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15400" y="3246120"/>
            <a:ext cx="109728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70264" y="3310128"/>
            <a:ext cx="987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6213E"/>
                </a:solidFill>
              </a:rPr>
              <a:t>1,000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65760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3" y="3721608"/>
            <a:ext cx="987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6213E"/>
                </a:solidFill>
              </a:rPr>
              <a:t>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91640" y="3657600"/>
            <a:ext cx="11887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46504" y="3721608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6213E"/>
                </a:solidFill>
              </a:rPr>
              <a:t>B60W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0" y="3657600"/>
            <a:ext cx="59436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80944" y="3721608"/>
            <a:ext cx="5833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213E"/>
                </a:solidFill>
              </a:rPr>
              <a:t>Autonomous Vehicles / Transportation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15400" y="3657600"/>
            <a:ext cx="10972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70264" y="3721608"/>
            <a:ext cx="987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6213E"/>
                </a:solidFill>
              </a:rPr>
              <a:t>1,000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069080"/>
            <a:ext cx="109728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3" y="4133088"/>
            <a:ext cx="987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6213E"/>
                </a:solidFill>
              </a:rPr>
              <a:t>f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91640" y="4069080"/>
            <a:ext cx="118872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46504" y="4133088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6213E"/>
                </a:solidFill>
              </a:rPr>
              <a:t>H02S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26080" y="4069080"/>
            <a:ext cx="5943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80944" y="4133088"/>
            <a:ext cx="5833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6213E"/>
                </a:solidFill>
              </a:rPr>
              <a:t>Renewable Energy / Power Systems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15400" y="4069080"/>
            <a:ext cx="109728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70264" y="4133088"/>
            <a:ext cx="987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6213E"/>
                </a:solidFill>
              </a:rPr>
              <a:t>1,000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42519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460"/>
                </a:solidFill>
              </a:rPr>
              <a:t>Total: 5,000 patents  |  5 technology domains  |  1,000 patents per domain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470916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•  Abstracts range 40-2000 words; titles derived from first sentence of abstract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•  Streamed directly from HuggingFace — no local download required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</a:rPr>
              <a:t>•  Saved to DATA/real_patents.csv in the repository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9C46A"/>
                </a:solidFill>
              </a:rPr>
              <a:t>Three parallel document representations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8EA"/>
                </a:solidFill>
              </a:rPr>
              <a:t>Group 22  |  Project 9  |  CSE 573 Spring 2026  |  Arizona State University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566160" cy="4846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9C46A"/>
                </a:solidFill>
              </a:rPr>
              <a:t>TF-IDF + LSA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11680"/>
            <a:ext cx="3383279" cy="2743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Vocabulary: 6,000 top unigrams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TF-IDF matrix: 5,000 x 6,000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SVD reduction -&gt; 50 latent dimensions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Captures lexical frequency patterns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Fast, interpretable, no GPU needed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87368" y="1417320"/>
            <a:ext cx="3566160" cy="4846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8807" y="1463040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9C46A"/>
                </a:solidFill>
              </a:rPr>
              <a:t>LDA Topic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8807" y="2011680"/>
            <a:ext cx="3383279" cy="2743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21488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Optimal topics: 3 (coherence = 0.071)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Document-topic distribution: 5,000 x 3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Dirichlet prior: alpha=0.1, beta=0.01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Discovers latent semantic themes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Best clustering silhouette: 0.762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0416" y="1417320"/>
            <a:ext cx="3566160" cy="4846320"/>
          </a:xfrm>
          <a:prstGeom prst="rect">
            <a:avLst/>
          </a:prstGeom>
          <a:solidFill>
            <a:srgbClr val="1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1856" y="1463040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9C46A"/>
                </a:solidFill>
              </a:rPr>
              <a:t>Sentence-BERT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91856" y="2011680"/>
            <a:ext cx="3383279" cy="2743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3296" y="21488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Model: all-MiniLM-L6-v2 (HuggingFace)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Dense embeddings: 5,000 x 384 dims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Semantic similarity in cosine space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Context-aware, handles paraphrases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Embedding cache: skip re-encoding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Clustering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9C46A"/>
                </a:solidFill>
              </a:rPr>
              <a:t>Silhouette up, Davies-Bouldin down, Stability up = better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8EA"/>
                </a:solidFill>
              </a:rPr>
              <a:t>Group 22  |  Project 9  |  CSE 573 Spring 2026  |  Arizona State University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200400" cy="47548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5448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1463040"/>
            <a:ext cx="2011680" cy="47548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55448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Silhouette (up)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463040"/>
            <a:ext cx="2286000" cy="47548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155448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Davies-Bouldin (down)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463040"/>
            <a:ext cx="2194560" cy="47548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5544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Stability ARI (up)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0" y="1463040"/>
            <a:ext cx="1188720" cy="47548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7000" y="155448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Best?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938528"/>
            <a:ext cx="320040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" y="2029968"/>
            <a:ext cx="3090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3460"/>
                </a:solidFill>
              </a:rPr>
              <a:t>TF-IDF + KMeans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1880" y="1938528"/>
            <a:ext cx="201168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66744" y="2029968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0.113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1938528"/>
            <a:ext cx="228600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24144" y="2029968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3.603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1938528"/>
            <a:ext cx="219456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55864" y="2029968"/>
            <a:ext cx="20848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0.908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41280" y="1938528"/>
            <a:ext cx="118872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96144" y="2029968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--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414016"/>
            <a:ext cx="3200400" cy="475488"/>
          </a:xfrm>
          <a:prstGeom prst="rect">
            <a:avLst/>
          </a:prstGeom>
          <a:solidFill>
            <a:srgbClr val="D4EDD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" y="2505456"/>
            <a:ext cx="3090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3460"/>
                </a:solidFill>
              </a:rPr>
              <a:t>LDA + KMeans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11880" y="2414016"/>
            <a:ext cx="2011680" cy="475488"/>
          </a:xfrm>
          <a:prstGeom prst="rect">
            <a:avLst/>
          </a:prstGeom>
          <a:solidFill>
            <a:srgbClr val="D4EDD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66744" y="2505456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0.762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2414016"/>
            <a:ext cx="2286000" cy="475488"/>
          </a:xfrm>
          <a:prstGeom prst="rect">
            <a:avLst/>
          </a:prstGeom>
          <a:solidFill>
            <a:srgbClr val="D4EDD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24144" y="2505456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0.618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1000" y="2414016"/>
            <a:ext cx="2194560" cy="475488"/>
          </a:xfrm>
          <a:prstGeom prst="rect">
            <a:avLst/>
          </a:prstGeom>
          <a:solidFill>
            <a:srgbClr val="D4EDD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55864" y="2505456"/>
            <a:ext cx="20848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0.999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1280" y="2414016"/>
            <a:ext cx="1188720" cy="475488"/>
          </a:xfrm>
          <a:prstGeom prst="rect">
            <a:avLst/>
          </a:prstGeom>
          <a:solidFill>
            <a:srgbClr val="D4EDD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96144" y="2505456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3460"/>
                </a:solidFill>
              </a:rPr>
              <a:t>BEST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889504"/>
            <a:ext cx="320040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" y="2980944"/>
            <a:ext cx="3090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3460"/>
                </a:solidFill>
              </a:rPr>
              <a:t>SBERT + KMeans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11880" y="2889504"/>
            <a:ext cx="201168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66744" y="2980944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0.045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2889504"/>
            <a:ext cx="228600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24144" y="2980944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5.061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01000" y="2889504"/>
            <a:ext cx="219456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55864" y="2980944"/>
            <a:ext cx="20848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0.940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41280" y="2889504"/>
            <a:ext cx="118872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96144" y="2980944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--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364992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" y="3456432"/>
            <a:ext cx="3090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3460"/>
                </a:solidFill>
              </a:rPr>
              <a:t>SBERT + Hierarchical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11880" y="3364992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66744" y="3456432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0.026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0" y="33649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24144" y="345643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6.010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01000" y="33649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55864" y="3456432"/>
            <a:ext cx="20848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0.940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41280" y="3364992"/>
            <a:ext cx="1188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96144" y="3456432"/>
            <a:ext cx="1078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--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42976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460"/>
                </a:solidFill>
              </a:rPr>
              <a:t>Key Findings: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4663440"/>
            <a:ext cx="11430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•  LDA + KMeans achieves the highest Silhouette (0.762) and near-perfect Stability (0.999) on 5,000 real patents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•  TF-IDF + KMeans yields the strongest interpretable clusters (low DB = 3.60, k=5 matches CPC sections)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•  SBERT embeddings show lower silhouette typical of real-world dense semantic spaces with overlapping domains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Cluster Visualizations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9C46A"/>
                </a:solidFill>
              </a:rPr>
              <a:t>t-SNE 2D projections of all four clustering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8EA"/>
                </a:solidFill>
              </a:rPr>
              <a:t>Group 22  |  Project 9  |  CSE 573 Spring 2026  |  Arizona State University</a:t>
            </a:r>
          </a:p>
        </p:txBody>
      </p:sp>
      <p:pic>
        <p:nvPicPr>
          <p:cNvPr id="8" name="Picture 7" descr="all_projections_ts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11457432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Metrics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9C46A"/>
                </a:solidFill>
              </a:rPr>
              <a:t>Side-by-side bar chart: Silhouette, Davies-Bouldin, Stability 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8EA"/>
                </a:solidFill>
              </a:rPr>
              <a:t>Group 22  |  Project 9  |  CSE 573 Spring 2026  |  Arizona State University</a:t>
            </a:r>
          </a:p>
        </p:txBody>
      </p:sp>
      <p:pic>
        <p:nvPicPr>
          <p:cNvPr id="8" name="Picture 7" descr="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08792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Summarization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9C46A"/>
                </a:solidFill>
              </a:rPr>
              <a:t>Extractive TF-IDF sentence ranking + ROUGE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8EA"/>
                </a:solidFill>
              </a:rPr>
              <a:t>Group 22  |  Project 9  |  CSE 573 Spring 2026  |  Arizona State University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017520" cy="47548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54480"/>
            <a:ext cx="2926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463040"/>
            <a:ext cx="1645920" cy="47548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5448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ROUGE-1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463040"/>
            <a:ext cx="1645920" cy="47548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155448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ROUGE-2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1463040"/>
            <a:ext cx="1645920" cy="47548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55448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ROUGE-L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463040"/>
            <a:ext cx="1828800" cy="47548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55448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Kw Coverage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78440" y="1463040"/>
            <a:ext cx="1828800" cy="47548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0" y="155448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Centroid Sim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938528"/>
            <a:ext cx="301752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2029968"/>
            <a:ext cx="29077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3460"/>
                </a:solidFill>
              </a:rPr>
              <a:t>TF-IDF + KMeans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1938528"/>
            <a:ext cx="164592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83864" y="2029968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0.260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1938528"/>
            <a:ext cx="164592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75503" y="2029968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0.006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80" y="1938528"/>
            <a:ext cx="164592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67144" y="2029968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0.193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1938528"/>
            <a:ext cx="182880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58784" y="2029968"/>
            <a:ext cx="1719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0.125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78440" y="1938528"/>
            <a:ext cx="182880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33304" y="2029968"/>
            <a:ext cx="1719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0.025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4140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" y="2505456"/>
            <a:ext cx="29077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3460"/>
                </a:solidFill>
              </a:rPr>
              <a:t>LDA + KMeans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29000" y="2414016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83864" y="2505456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0.280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0" y="2414016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3" y="2505456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0.040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12280" y="2414016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67144" y="2505456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0.239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03920" y="2414016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58784" y="2505456"/>
            <a:ext cx="1719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0.200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78440" y="2414016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33304" y="2505456"/>
            <a:ext cx="1719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0.039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2889504"/>
            <a:ext cx="301752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4" y="2980944"/>
            <a:ext cx="29077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3460"/>
                </a:solidFill>
              </a:rPr>
              <a:t>SBERT + KMeans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29000" y="2889504"/>
            <a:ext cx="164592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83864" y="2980944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0.266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20640" y="2889504"/>
            <a:ext cx="164592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3" y="2980944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0.013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12280" y="2889504"/>
            <a:ext cx="164592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67144" y="2980944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0.206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03920" y="2889504"/>
            <a:ext cx="182880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58784" y="2980944"/>
            <a:ext cx="1719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0.100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378440" y="2889504"/>
            <a:ext cx="1828800" cy="475488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33304" y="2980944"/>
            <a:ext cx="1719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0.028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364992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0624" y="3456432"/>
            <a:ext cx="29077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3460"/>
                </a:solidFill>
              </a:rPr>
              <a:t>SBERT + Hierarchical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29000" y="3364992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83864" y="3456432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0.284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20640" y="3364992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75503" y="3456432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0.034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12280" y="3364992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67144" y="3456432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0.203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03920" y="3364992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58784" y="3456432"/>
            <a:ext cx="1719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0.100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378440" y="3364992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433304" y="3456432"/>
            <a:ext cx="1719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3460"/>
                </a:solidFill>
              </a:rPr>
              <a:t>0.033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4160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460"/>
                </a:solidFill>
              </a:rPr>
              <a:t>How summarization works: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4526280"/>
            <a:ext cx="11430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•  Each cluster's documents are merged; sentences ranked by TF-IDF cosine similarity to centroid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•  Top-3 sentences selected as the cluster summary (order preserved for readability)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•  ROUGE-1 measures unigram overlap; ROUGE-L measures longest common subsequence with representative titles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•  LDA + KMeans wins ROUGE-2 (0.040), ROUGE-L (0.239) and Coverage (0.200) -- best balance overall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LDA Topic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9C46A"/>
                </a:solidFill>
              </a:rPr>
              <a:t>Optimal coherence at 3 topics (coherence = 0.071)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8EA"/>
                </a:solidFill>
              </a:rPr>
              <a:t>Group 22  |  Project 9  |  CSE 573 Spring 2026  |  Arizona State University</a:t>
            </a:r>
          </a:p>
        </p:txBody>
      </p:sp>
      <p:pic>
        <p:nvPicPr>
          <p:cNvPr id="8" name="Picture 7" descr="lda_top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5852160" cy="4846320"/>
          </a:xfrm>
          <a:prstGeom prst="rect">
            <a:avLst/>
          </a:prstGeom>
        </p:spPr>
      </p:pic>
      <p:pic>
        <p:nvPicPr>
          <p:cNvPr id="9" name="Picture 8" descr="doc_topic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5577840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</a:rPr>
              <a:t>Top words per topic (left) and document-topic probability heatmap (right)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Optimal k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9C46A"/>
                </a:solidFill>
              </a:rPr>
              <a:t>Silhouette &amp; Davies-Bouldin vs k (SBERT embeddings)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8EA"/>
                </a:solidFill>
              </a:rPr>
              <a:t>Group 22  |  Project 9  |  CSE 573 Spring 2026  |  Arizona State University</a:t>
            </a:r>
          </a:p>
        </p:txBody>
      </p:sp>
      <p:pic>
        <p:nvPicPr>
          <p:cNvPr id="8" name="Picture 7" descr="optimal_k_SB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17320"/>
            <a:ext cx="9445752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436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 k evaluated from 2 to 9 on SBERT embeddings using Silhouette and Davies-Bouldin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 Diagnostic optimal k = 2 by silhouette, but k = 5 chosen for clustering to match the 5 CPC sections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 Low SBERT silhouette values are expected: real patents have nuanced, overlapping technical language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Results &amp;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9C46A"/>
                </a:solidFill>
              </a:rPr>
              <a:t>What we built and what we found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8EA"/>
                </a:solidFill>
              </a:rPr>
              <a:t>Group 22  |  Project 9  |  CSE 573 Spring 2026  |  Arizona State University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486400" cy="4846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9C46A"/>
                </a:solidFill>
              </a:rPr>
              <a:t>Pipeline Contributions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11680"/>
            <a:ext cx="5303520" cy="2743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5166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End-to-end pipeline: ingestion -&gt; preprocessing -&gt; features -&gt; clustering -&gt; summarization -&gt; report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Three feature representations compared on 5,000 real USPTO patents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Automated optimal-k and optimal-topics search with coherence scoring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SBERT embedding cache + memory-aware feature builder for scale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Self-contained HTML report + interactive Streamlit demo 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28232" y="1417320"/>
            <a:ext cx="5486400" cy="4846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4630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9C46A"/>
                </a:solidFill>
              </a:rPr>
              <a:t>Evaluation Findings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19672" y="2011680"/>
            <a:ext cx="5303520" cy="2743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2148840"/>
            <a:ext cx="5166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LDA + KMeans: best overall (Sil=0.762, Stab=0.999, ROUGE-L=0.239)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TF-IDF + KMeans: cleanest interpretable clusters (DB=3.60)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SBERT + Hierarchical: best ROUGE-1 (0.284) -- captures paraphrase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Pipeline scaled 10x from 500 to 5,000 patents in ~6 minutes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-  Stability ARI &gt; 0.90 across all four methods at this scale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9C46A"/>
                </a:solidFill>
              </a:rPr>
              <a:t>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651760"/>
            <a:ext cx="7616952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9C46A"/>
                </a:solidFill>
              </a:rPr>
              <a:t>GitHub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8D8EA"/>
                </a:solidFill>
              </a:rPr>
              <a:t>github.com/akshith-22/PatentSummarizer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3840480"/>
            <a:ext cx="7616952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Group 22  |  Project 9  |  CSE 573 Spring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59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Arizona State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83479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Akshith Reddy Vempati  |  Reethika Gogireddy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521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8D8EA"/>
                </a:solidFill>
              </a:rPr>
              <a:t>Pipeline: TF-IDF + LDA + Sentence-BERT  -&gt;  K-Means + Hierarchical Clustering  -&gt;  ROUGE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