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Patent Corpus Semantic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E9C46A"/>
                </a:solidFill>
              </a:rPr>
              <a:t>DEMO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383280"/>
            <a:ext cx="5788152" cy="36576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Group 22  |  Project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8D8EA"/>
                </a:solidFill>
              </a:rPr>
              <a:t>CSE 573 Spring 2026  |  Arizona State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720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A8D8EA"/>
                </a:solidFill>
              </a:rPr>
              <a:t>Akshith Reddy Vempati  |  Reethika Gogireddy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9C46A"/>
                </a:solidFill>
              </a:rPr>
              <a:t>April 27,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Why automated patent analysis?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222222"/>
                </a:solidFill>
              </a:rPr>
              <a:t>•  4+ million active US patents across hundreds of CPC technology classes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22222"/>
                </a:solidFill>
              </a:rPr>
              <a:t>•  Manual review is impossible at scale — researchers need fast discovery tools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22222"/>
                </a:solidFill>
              </a:rPr>
              <a:t>•  Patents use highly technical, domain-specific language with minimal overlap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22222"/>
                </a:solidFill>
              </a:rPr>
              <a:t>•  Existing tools lack semantic understanding — keyword search misses synonyms and paraphrases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222222"/>
                </a:solidFill>
              </a:rPr>
              <a:t>•  Goal: cluster large patent corpora by topic, extract cluster summaries, and rank by relevance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Our system automates patent discovery using TF-IDF, LDA, and Sentence-BERT embeddings combined with K-Means and Hierarchical clustering to reveal hidden topical structure.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7-stage end-to-end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454" y="1463040"/>
            <a:ext cx="1508760" cy="43891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3454" y="1463040"/>
            <a:ext cx="1508760" cy="5029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9174" y="1481328"/>
            <a:ext cx="1417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3460"/>
                </a:solidFill>
              </a:rPr>
              <a:t>1. 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" y="2057400"/>
            <a:ext cx="13624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Real USPTO patents
HuggingFace big_patent
500 patents / 5 domains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22501" y="35204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3460"/>
                </a:solidFill>
              </a:rPr>
              <a:t>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15668" y="1463040"/>
            <a:ext cx="1508760" cy="43891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15668" y="1463040"/>
            <a:ext cx="1508760" cy="5029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1388" y="1481328"/>
            <a:ext cx="1417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3460"/>
                </a:solidFill>
              </a:rPr>
              <a:t>2. Preprocessing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88820" y="2057400"/>
            <a:ext cx="13624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Lowercasing, punct strip
Stopword removal
Lemmatisation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4715" y="35204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3460"/>
                </a:solidFill>
              </a:rPr>
              <a:t>-&gt;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27882" y="1463040"/>
            <a:ext cx="1508760" cy="43891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27882" y="1463040"/>
            <a:ext cx="1508760" cy="5029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3602" y="1481328"/>
            <a:ext cx="1417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3460"/>
                </a:solidFill>
              </a:rPr>
              <a:t>3. Feature Eng.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1034" y="2057400"/>
            <a:ext cx="13624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TF-IDF + LSA
LDA topics
Sentence-BERT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6929" y="35204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3460"/>
                </a:solidFill>
              </a:rPr>
              <a:t>-&gt;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0096" y="1463040"/>
            <a:ext cx="1508760" cy="43891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0096" y="1463040"/>
            <a:ext cx="1508760" cy="5029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85816" y="1481328"/>
            <a:ext cx="1417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3460"/>
                </a:solidFill>
              </a:rPr>
              <a:t>4. Clustering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3248" y="2057400"/>
            <a:ext cx="13624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K-Means++
Hierarchical (Ward)
Optimal-k 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9143" y="35204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3460"/>
                </a:solidFill>
              </a:rPr>
              <a:t>-&gt;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52310" y="1463040"/>
            <a:ext cx="1508760" cy="43891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52310" y="1463040"/>
            <a:ext cx="1508760" cy="5029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8030" y="1481328"/>
            <a:ext cx="1417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3460"/>
                </a:solidFill>
              </a:rPr>
              <a:t>5. Summarization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25462" y="2057400"/>
            <a:ext cx="13624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TF-IDF sentence rank
Keyword extraction
ROUGE 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1357" y="35204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3460"/>
                </a:solidFill>
              </a:rPr>
              <a:t>-&gt;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64524" y="1463040"/>
            <a:ext cx="1508760" cy="43891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64524" y="1463040"/>
            <a:ext cx="1508760" cy="5029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0244" y="1481328"/>
            <a:ext cx="1417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3460"/>
                </a:solidFill>
              </a:rPr>
              <a:t>6. Visualization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7676" y="2057400"/>
            <a:ext cx="13624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t-SNE / PCA 2D
Metrics bar chart
Topic heatmap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3571" y="35204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3460"/>
                </a:solidFill>
              </a:rPr>
              <a:t>-&gt;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6738" y="1463040"/>
            <a:ext cx="1508760" cy="43891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6738" y="1463040"/>
            <a:ext cx="1508760" cy="502920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22458" y="1481328"/>
            <a:ext cx="14173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3460"/>
                </a:solidFill>
              </a:rPr>
              <a:t>7. Report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49890" y="2057400"/>
            <a:ext cx="136245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Self-contained HTML
Base64 embedded imgs
All metrics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Real USPTO Patents via HuggingFace big_patent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</a:rPr>
              <a:t>500 real USPTO patent abstracts streamed from the big_patent dataset (Sharma et al., 2019)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109728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7568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CPC Section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91640" y="2011680"/>
            <a:ext cx="118872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07568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CPC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2011680"/>
            <a:ext cx="594360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207568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Technology Domain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2011680"/>
            <a:ext cx="109728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2075688"/>
            <a:ext cx="10058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42316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3" y="248716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91640" y="2423160"/>
            <a:ext cx="118872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46504" y="248716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G06N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2423160"/>
            <a:ext cx="5943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80944" y="2487168"/>
            <a:ext cx="5833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213E"/>
                </a:solidFill>
              </a:rPr>
              <a:t>Machine Learning / Artificial Intelligence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242316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70264" y="248716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834640"/>
            <a:ext cx="1097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3" y="289864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91640" y="2834640"/>
            <a:ext cx="1188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46504" y="289864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H01L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2834640"/>
            <a:ext cx="59436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80944" y="2898648"/>
            <a:ext cx="5833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213E"/>
                </a:solidFill>
              </a:rPr>
              <a:t>Semiconductor / Electronics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15400" y="2834640"/>
            <a:ext cx="1097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70264" y="289864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100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24612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3" y="331012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91640" y="3246120"/>
            <a:ext cx="118872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46504" y="331012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A61B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3246120"/>
            <a:ext cx="5943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310128"/>
            <a:ext cx="5833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213E"/>
                </a:solidFill>
              </a:rPr>
              <a:t>Biotechnology / Medical Devices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15400" y="324612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70264" y="331012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100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3657600"/>
            <a:ext cx="1097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3503" y="372160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691640" y="3657600"/>
            <a:ext cx="11887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46504" y="372160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B60W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26080" y="3657600"/>
            <a:ext cx="59436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80944" y="3721608"/>
            <a:ext cx="5833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213E"/>
                </a:solidFill>
              </a:rPr>
              <a:t>Autonomous Vehicles / Transportation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15400" y="3657600"/>
            <a:ext cx="1097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70264" y="372160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100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406908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3503" y="413308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91640" y="4069080"/>
            <a:ext cx="118872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746504" y="4133088"/>
            <a:ext cx="10789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H02S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26080" y="4069080"/>
            <a:ext cx="594360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980944" y="4133088"/>
            <a:ext cx="58338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6213E"/>
                </a:solidFill>
              </a:rPr>
              <a:t>Renewable Energy / Power Systems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15400" y="4069080"/>
            <a:ext cx="1097280" cy="41148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70264" y="4133088"/>
            <a:ext cx="987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6213E"/>
                </a:solidFill>
              </a:rPr>
              <a:t>100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42519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Total: 500 patents  |  5 technology domains  |  100 patents per domain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470916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</a:rPr>
              <a:t>•  Abstracts range 40-2000 words; titles derived from first sentence of abstract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</a:rPr>
              <a:t>•  Streamed directly from HuggingFace — no local download required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333333"/>
                </a:solidFill>
              </a:rPr>
              <a:t>•  Saved to DATA/real_patents.csv in the repository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Three parallel document representations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566160" cy="48463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40"/>
            <a:ext cx="3383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9C46A"/>
                </a:solidFill>
              </a:rPr>
              <a:t>TF-IDF + LSA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11680"/>
            <a:ext cx="3383279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Vocabulary: 3,000 top terms (1- and 2-grams)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TF-IDF matrix: 500 x 3,000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SVD reduction -&gt; 50 latent dimensions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Captures lexical frequency patterns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Fast, interpretable, no GPU needed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87368" y="1417320"/>
            <a:ext cx="3566160" cy="4846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78807" y="1463040"/>
            <a:ext cx="3383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9C46A"/>
                </a:solidFill>
              </a:rPr>
              <a:t>LDA Topic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78807" y="2011680"/>
            <a:ext cx="3383279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214884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Optimal topics: 2 (coherence = 0.071)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Document-topic distribution: 500 x 2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Dirichlet prior: alpha=0.1, beta=0.01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Discovers latent semantic themes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Best clustering silhouette: 0.907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0416" y="1417320"/>
            <a:ext cx="3566160" cy="4846320"/>
          </a:xfrm>
          <a:prstGeom prst="rect">
            <a:avLst/>
          </a:prstGeom>
          <a:solidFill>
            <a:srgbClr val="105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91856" y="1463040"/>
            <a:ext cx="3383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9C46A"/>
                </a:solidFill>
              </a:rPr>
              <a:t>Sentence-BERT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1856" y="2011680"/>
            <a:ext cx="3383279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3296" y="214884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Model: all-MiniLM-L6-v2 (HuggingFace)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Dense embeddings: 500 x 384 dims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Semantic similarity in cosine space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Context-aware, handles paraphrases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State-of-the-art sentence encoding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Clustering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Silhouette up, Davies-Bouldin down, Stability up = better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320040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880" y="1463040"/>
            <a:ext cx="201168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55448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Silhouette (up)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463040"/>
            <a:ext cx="228600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155448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Davies-Bouldin (down)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1463040"/>
            <a:ext cx="219456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554480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Stability ARI (up)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463040"/>
            <a:ext cx="118872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155448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Best?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938528"/>
            <a:ext cx="32004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2029968"/>
            <a:ext cx="3090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TF-IDF + KMeans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11880" y="1938528"/>
            <a:ext cx="201168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66744" y="2029968"/>
            <a:ext cx="1901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0.059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1938528"/>
            <a:ext cx="22860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24144" y="2029968"/>
            <a:ext cx="2176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4.957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1938528"/>
            <a:ext cx="219456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55864" y="2029968"/>
            <a:ext cx="20848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0.942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41280" y="1938528"/>
            <a:ext cx="11887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96144" y="2029968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--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414016"/>
            <a:ext cx="3200400" cy="475488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4" y="2505456"/>
            <a:ext cx="3090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LDA + KMeans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11880" y="2414016"/>
            <a:ext cx="2011680" cy="475488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6744" y="2505456"/>
            <a:ext cx="1901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0.907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0" y="2414016"/>
            <a:ext cx="2286000" cy="475488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24144" y="2505456"/>
            <a:ext cx="2176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0.281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1000" y="2414016"/>
            <a:ext cx="2194560" cy="475488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55864" y="2505456"/>
            <a:ext cx="20848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1.000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241280" y="2414016"/>
            <a:ext cx="1188720" cy="475488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96144" y="2505456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3460"/>
                </a:solidFill>
              </a:rPr>
              <a:t>BEST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889504"/>
            <a:ext cx="32004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0624" y="2980944"/>
            <a:ext cx="3090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SBERT + KMeans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11880" y="2889504"/>
            <a:ext cx="201168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66744" y="2980944"/>
            <a:ext cx="1901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0.055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0" y="2889504"/>
            <a:ext cx="22860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24144" y="2980944"/>
            <a:ext cx="2176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5.633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01000" y="2889504"/>
            <a:ext cx="219456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55864" y="2980944"/>
            <a:ext cx="20848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0.937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241280" y="2889504"/>
            <a:ext cx="11887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96144" y="2980944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--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364992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624" y="3456432"/>
            <a:ext cx="3090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SBERT + Hierarchical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11880" y="3364992"/>
            <a:ext cx="20116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66744" y="3456432"/>
            <a:ext cx="19019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0.046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0" y="3364992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24144" y="3456432"/>
            <a:ext cx="21762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6.327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001000" y="3364992"/>
            <a:ext cx="21945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55864" y="3456432"/>
            <a:ext cx="20848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0.937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241280" y="3364992"/>
            <a:ext cx="1188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96144" y="3456432"/>
            <a:ext cx="1078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--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2976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Key Findings: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4663440"/>
            <a:ext cx="11430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LDA + KMeans achieves the highest Silhouette (0.907) and perfect Stability (1.000) — clean topical separation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SBERT embeddings show lower silhouette scores typical of real-world high-dimensional patent data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Hierarchical clustering (Ward linkage) matches K-Means on real data stability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Cluster Visualizations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t-SNE 2D projections of all four clustering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pic>
        <p:nvPicPr>
          <p:cNvPr id="8" name="Picture 7" descr="all_projections_ts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11457432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Metrics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Side-by-side bar chart: Silhouette, Davies-Bouldin, Stability ARI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pic>
        <p:nvPicPr>
          <p:cNvPr id="8" name="Picture 7" descr="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0908792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Summarization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Extractive TF-IDF sentence ranking + ROUGE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301752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29260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463040"/>
            <a:ext cx="164592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55448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ROUGE-1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463040"/>
            <a:ext cx="164592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59" y="155448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ROUGE-2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12280" y="1463040"/>
            <a:ext cx="164592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554480"/>
            <a:ext cx="1554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ROUGE-L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463040"/>
            <a:ext cx="182880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155448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Kw Coverage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463040"/>
            <a:ext cx="1828800" cy="47548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24160" y="155448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Centroid Sim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1938528"/>
            <a:ext cx="30175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2029968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TF-IDF + KMeans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29000" y="1938528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3864" y="2029968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0.303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0" y="1938528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5503" y="2029968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0.036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1938528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67144" y="2029968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0.216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1938528"/>
            <a:ext cx="18288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58784" y="2029968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0.188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78440" y="1938528"/>
            <a:ext cx="18288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33304" y="2029968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0.036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2414016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0624" y="2505456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LDA + KMeans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29000" y="2414016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83864" y="2505456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0.248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0" y="2414016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3" y="2505456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12280" y="2414016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67144" y="2505456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0.199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03920" y="2414016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8784" y="2505456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78440" y="2414016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33304" y="2505456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0.034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2889504"/>
            <a:ext cx="30175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" y="2980944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SBERT + KMeans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29000" y="2889504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83864" y="2980944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0.221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20640" y="2889504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3" y="2980944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12280" y="2889504"/>
            <a:ext cx="164592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67144" y="2980944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0.179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03920" y="2889504"/>
            <a:ext cx="18288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58784" y="2980944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378440" y="2889504"/>
            <a:ext cx="1828800" cy="475488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33304" y="2980944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364992"/>
            <a:ext cx="3017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0624" y="3456432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F3460"/>
                </a:solidFill>
              </a:rPr>
              <a:t>SBERT + Hierarchical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0" y="3364992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83864" y="3456432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0.257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20640" y="3364992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175503" y="3456432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0.019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812280" y="3364992"/>
            <a:ext cx="1645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67144" y="3456432"/>
            <a:ext cx="1536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0.179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03920" y="3364992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58784" y="3456432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378440" y="3364992"/>
            <a:ext cx="1828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33304" y="3456432"/>
            <a:ext cx="17190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F3460"/>
                </a:solidFill>
              </a:rPr>
              <a:t>0.007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160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3460"/>
                </a:solidFill>
              </a:rPr>
              <a:t>How summarization works: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526280"/>
            <a:ext cx="11430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Each cluster's documents are merged; sentences ranked by TF-IDF cosine similarity to centroid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Top-3 sentences selected as the cluster summary (order preserved for readability)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ROUGE-1 measures unigram overlap; ROUGE-L measures longest common subsequence with representative titles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22222"/>
                </a:solidFill>
              </a:rPr>
              <a:t>•  TF-IDF + KMeans achieves best ROUGE-1 (0.303) and ROUGE-L (0.216)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LDA Topic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Optimal coherence at 2 topics (coherence = 0.071)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pic>
        <p:nvPicPr>
          <p:cNvPr id="8" name="Picture 7" descr="lda_top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852160" cy="4846320"/>
          </a:xfrm>
          <a:prstGeom prst="rect">
            <a:avLst/>
          </a:prstGeom>
        </p:spPr>
      </p:pic>
      <p:pic>
        <p:nvPicPr>
          <p:cNvPr id="9" name="Picture 8" descr="doc_topic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17320"/>
            <a:ext cx="5577840" cy="484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</a:rPr>
              <a:t>Top words per topic (left) and document-topic probability heatmap (right)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Optimal k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Silhouette &amp; Davies-Bouldin vs k (SBERT embeddings)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pic>
        <p:nvPicPr>
          <p:cNvPr id="8" name="Picture 7" descr="optimal_k_SB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17320"/>
            <a:ext cx="9445752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222222"/>
                </a:solidFill>
              </a:rPr>
              <a:t>•  k evaluated from 2 to 9 on SBERT embeddings using Silhouette and Davies-Bouldin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22"/>
                </a:solidFill>
              </a:rPr>
              <a:t>•  Optimal k = 2 selected by max Silhouette (0.055) — real patent data shows gradual transition across domains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22222"/>
                </a:solidFill>
              </a:rPr>
              <a:t>•  Low SBERT silhouette values are expected: real patents have nuanced, overlapping technical language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Results &amp;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132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9C46A"/>
                </a:solidFill>
              </a:rPr>
              <a:t>What we built and what we found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56248"/>
            <a:ext cx="1188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D8EA"/>
                </a:solidFill>
              </a:rPr>
              <a:t>Group 22  |  Project 9  |  CSE 573 Spring 2026  |  Arizona State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5486400" cy="48463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9C46A"/>
                </a:solidFill>
              </a:rPr>
              <a:t>Pipeline Contributions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11680"/>
            <a:ext cx="5303520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5166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End-to-end pipeline: ingestion -&gt; preprocessing -&gt; features -&gt; clustering -&gt; summarization -&gt; report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Three feature representations compared on the same corpus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Automated optimal-k and optimal-topics search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Self-contained HTML report with all visualizations embedded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Docker + docker-compose for reproducible execution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28232" y="1417320"/>
            <a:ext cx="5486400" cy="4846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4630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E9C46A"/>
                </a:solidFill>
              </a:rPr>
              <a:t>Evaluation Findings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19672" y="2011680"/>
            <a:ext cx="5303520" cy="2743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1112" y="2148840"/>
            <a:ext cx="51663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LDA + KMeans: best clustering (Sil=0.907, DB=0.281, Stab=1.000)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TF-IDF + KMeans: best summarization (ROUGE-1=0.303, ROUGE-L=0.216)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Real USPTO data (500 patents) shows rich topical structure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Sentence-BERT captures semantic similarity across domain-specific jargon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-  ROUGE evaluation validates extractive summaries against representative patents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9C46A"/>
                </a:solidFill>
              </a:rPr>
              <a:t>Questions?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651760"/>
            <a:ext cx="7616952" cy="36576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9C46A"/>
                </a:solidFill>
              </a:rPr>
              <a:t>GitHub Repository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A8D8EA"/>
                </a:solidFill>
              </a:rPr>
              <a:t>github.com/akshith-22/PatentSummarizer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3840480"/>
            <a:ext cx="7616952" cy="36576"/>
          </a:xfrm>
          <a:prstGeom prst="rect">
            <a:avLst/>
          </a:pr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Group 22  |  Project 9  |  CSE 573 Spring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80559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Arizona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83479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Akshith Reddy Vempati  |  Reethika Gogireddy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8521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8D8EA"/>
                </a:solidFill>
              </a:rPr>
              <a:t>Pipeline: TF-IDF + LDA + Sentence-BERT  -&gt;  K-Means + Hierarchical Clustering  -&gt;  ROUGE Evaluation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