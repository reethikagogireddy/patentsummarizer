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Patent Corpus Semantic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E9C46A"/>
                </a:solidFill>
              </a:rPr>
              <a:t>DEMO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83280"/>
            <a:ext cx="57881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Group 22  |  Project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8D8EA"/>
                </a:solidFill>
              </a:rPr>
              <a:t>CSE 573 Spring 2026  |  Arizona State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D8EA"/>
                </a:solidFill>
              </a:rPr>
              <a:t>Akshith Reddy Vempati  |  Reethika Gogireddy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9C46A"/>
                </a:solidFill>
              </a:rPr>
              <a:t>April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Why automated patent analysis?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4+ million active US patents across hundreds of CPC technology classes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Manual review is impossible at scale — researchers need fast discovery tools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Patents use highly technical, domain-specific language with minimal overlap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Existing tools lack semantic understanding — keyword search misses synonyms and paraphrases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Goal: cluster large patent corpora by topic, extract cluster summaries, and rank by relevance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Our system automates patent discovery using TF-IDF, LDA, and Sentence-BERT embeddings combined with K-Means and Hierarchical clustering to reveal hidden topical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7-stage end-to-end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454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454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9174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1.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Real USPTO patents
HuggingFace big_patent
5,000 patents / 5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2501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15668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15668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1388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2.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8820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Lowercasing, punct strip
Stopword removal
Lemmatisation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4715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7882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27882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3602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3. Feature Eng.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1034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TF-IDF + LSA
LDA topics
Sentence-BERT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6929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0096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0096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85816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4. Clustering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3248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K-Means++
Hierarchical (Ward)
Optimal-k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9143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2310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52310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8030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5. Summarization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25462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TF-IDF sentence rank
Keyword extraction
ROUGE 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1357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64524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64524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0244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6. Visualization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7676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t-SNE / PCA 2D
Metrics bar chart
Topic heatmap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571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6738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6738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22458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7. 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49890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Self-contained HTML
Base64 embedded imgs
All metrics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Real USPTO Patents via HuggingFace big_patent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</a:rPr>
              <a:t>5,000 real USPTO patent abstracts streamed from the big_patent dataset (Sharma et al., 2019)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09728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CPC 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011680"/>
            <a:ext cx="118872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0756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CPC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011680"/>
            <a:ext cx="594360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07568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Technology Domain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2011680"/>
            <a:ext cx="109728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20756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2316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3" y="248716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242316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46504" y="248716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G06N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42316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248716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Machine Learning / Artificial Intelligence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42316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4" y="248716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289864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2834640"/>
            <a:ext cx="1188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46504" y="289864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H01L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834640"/>
            <a:ext cx="5943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80944" y="289864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Semiconductor / Electronics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8346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0264" y="289864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4612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331012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91640" y="324612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46504" y="331012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A61B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24612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31012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Biotechnology / Medical Devices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24612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0264" y="331012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65760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3" y="372160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91640" y="3657600"/>
            <a:ext cx="1188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46504" y="372160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B60W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3657600"/>
            <a:ext cx="5943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80944" y="372160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Autonomous Vehicles / Transportation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365760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70264" y="372160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06908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3" y="413308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91640" y="406908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46504" y="413308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H02S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0" y="406908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80944" y="413308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Renewable Energy / Power Systems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15400" y="406908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70264" y="413308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251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Total: 5,000 patents  |  5 technology domains  |  1,000 patents per domain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Abstracts range 40-2000 words; titles derived from first sentence of abstract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Streamed directly from HuggingFace — no local download required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Saved to DATA/real_patents.csv in the repository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Three parallel document representations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4846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TF-IDF + 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Vocabulary: 6,000 top unigrams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TF-IDF matrix: 5,000 x 6,000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SVD reduction -&gt; 50 latent dimensions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Captures lexical frequency patterns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Fast, interpretable, no GPU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7368" y="1417320"/>
            <a:ext cx="3566160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8807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LDA Topic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78807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Optimal topics: 3 (coherence = 0.071)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Document-topic distribution: 5,000 x 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Dirichlet prior: alpha=0.1, beta=0.01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Discovers latent semantic themes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Best clustering silhouette: 0.762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0416" y="1417320"/>
            <a:ext cx="3566160" cy="4846320"/>
          </a:xfrm>
          <a:prstGeom prst="rect">
            <a:avLst/>
          </a:prstGeom>
          <a:solidFill>
            <a:srgbClr val="1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Sentence-BERT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1856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Model: all-MiniLM-L6-v2 (HuggingFace)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Dense embeddings: 5,000 x 384 dims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Semantic similarity in cosine space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Context-aware, handles paraphrases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Embedding cache: skip re-encoding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Clustering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Silhouette up, Davies-Bouldin down, Stability up =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2004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463040"/>
            <a:ext cx="201168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Silhouette (up)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463040"/>
            <a:ext cx="22860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55448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Davies-Bouldin (down)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463040"/>
            <a:ext cx="219456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Stability ARI (up)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463040"/>
            <a:ext cx="11887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155448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Best?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38528"/>
            <a:ext cx="32004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2029968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TF-IDF + KMeans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1938528"/>
            <a:ext cx="201168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2029968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1938528"/>
            <a:ext cx="22860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2029968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3.603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938528"/>
            <a:ext cx="219456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55864" y="2029968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1938528"/>
            <a:ext cx="11887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6144" y="202996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14016"/>
            <a:ext cx="320040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2505456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LDA + KMeans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2414016"/>
            <a:ext cx="201168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2505456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0.762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2414016"/>
            <a:ext cx="228600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24144" y="2505456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0.618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2414016"/>
            <a:ext cx="219456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5864" y="2505456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0.999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41280" y="2414016"/>
            <a:ext cx="118872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96144" y="2505456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3460"/>
                </a:solidFill>
              </a:rPr>
              <a:t>BEST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89504"/>
            <a:ext cx="32004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980944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KMeans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11880" y="2889504"/>
            <a:ext cx="201168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980944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0.045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0" y="2889504"/>
            <a:ext cx="22860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24144" y="2980944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5.061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2889504"/>
            <a:ext cx="219456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5864" y="2980944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0.940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41280" y="2889504"/>
            <a:ext cx="11887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96144" y="2980944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364992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" y="3456432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Hierarchical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11880" y="3364992"/>
            <a:ext cx="2011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66744" y="3456432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33649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24144" y="3456432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6.010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01000" y="3364992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55864" y="3456432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0" y="3364992"/>
            <a:ext cx="1188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96144" y="3456432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297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Key Findings: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466344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LDA + KMeans achieves the highest Silhouette (0.762) and near-perfect Stability (0.999) on 5,000 real patents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TF-IDF + KMeans yields the strongest interpretable clusters (low DB = 3.60, k=5 matches CPC sections)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SBERT embeddings show lower silhouette typical of real-world dense semantic spaces with overlapping domains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Cluster Visualizations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t-SNE 2D projections of all four clustering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all_projections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5743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Metrics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Side-by-side bar chart: Silhouette, Davies-Bouldin, Stability 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0879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Summarization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Extractive TF-IDF sentence ranking + ROUGE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0175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2926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463040"/>
            <a:ext cx="18288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Kw Coverage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463040"/>
            <a:ext cx="18288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0" y="15544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Centroid Sim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938528"/>
            <a:ext cx="30175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2029968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TF-IDF + KMeans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3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7144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1938528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2029968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1938528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33304" y="2029968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140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" y="2505456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LDA + KMeans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83864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3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1228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67144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24140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2505456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0" y="24140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33304" y="2505456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889504"/>
            <a:ext cx="30175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2980944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KMeans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2900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83864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0.266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2064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3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1228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67144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889504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58784" y="2980944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78440" y="2889504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33304" y="2980944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0.028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3649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4" y="3456432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Hierarchical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83864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0.284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75503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1228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67144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0.203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33649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58784" y="3456432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378440" y="33649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33304" y="3456432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How summarization works: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526280"/>
            <a:ext cx="11430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Each cluster's documents are merged; sentences ranked by TF-IDF cosine similarity to centroid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Top-3 sentences selected as the cluster summary (order preserved for readability)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ROUGE-1 measures unigram overlap; ROUGE-L measures longest common subsequence with representative titles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LDA + KMeans wins ROUGE-2 (0.040), ROUGE-L (0.239) and Coverage (0.200) -- best balance overall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LDA Topic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Optimal coherence at 3 topics (coherence = 0.071)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lda_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852160" cy="4846320"/>
          </a:xfrm>
          <a:prstGeom prst="rect">
            <a:avLst/>
          </a:prstGeom>
        </p:spPr>
      </p:pic>
      <p:pic>
        <p:nvPicPr>
          <p:cNvPr id="9" name="Picture 8" descr="doc_topic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57784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Top words per topic (left) and document-topic probability heatmap (right)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Optimal k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Silhouette &amp; Davies-Bouldin vs k (SBERT embeddings)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optimal_k_S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9445752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k evaluated from 2 to 9 on SBERT embeddings using Silhouette and Davies-Bouldin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Diagnostic optimal k = 2 by silhouette, but k = 5 chosen for clustering to match the 5 CPC sections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Low SBERT silhouette values are expected: real patents have nuanced, overlapping technical language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Results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What we built and what we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486400" cy="4846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C46A"/>
                </a:solidFill>
              </a:rPr>
              <a:t>Pipeline Contributions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530352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166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End-to-end pipeline: ingestion -&gt; preprocessing -&gt; features -&gt; clustering -&gt; summarization -&gt; report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Three feature representations compared on 5,000 real USPTO patents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Automated optimal-k and optimal-topics search with coherence scoring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SBERT embedding cache + memory-aware feature builder for scale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Self-contained HTML report + interactive Streamlit demo 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28232" y="1417320"/>
            <a:ext cx="5486400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C46A"/>
                </a:solidFill>
              </a:rPr>
              <a:t>Evaluation Findings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9672" y="2011680"/>
            <a:ext cx="530352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2148840"/>
            <a:ext cx="5166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LDA + KMeans: best overall (Sil=0.762, Stab=0.999, ROUGE-L=0.239)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TF-IDF + KMeans: cleanest interpretable clusters (DB=3.60)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SBERT + Hierarchical: best ROUGE-1 (0.284) -- captures paraphrase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Pipeline scaled 10x from 500 to 5,000 patents in ~6 minutes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Stability ARI &gt; 0.90 across all four methods at this scale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C46A"/>
                </a:solidFill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651760"/>
            <a:ext cx="76169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GitHub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D8EA"/>
                </a:solidFill>
              </a:rPr>
              <a:t>github.com/akshith-22/PatentSummarizer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840480"/>
            <a:ext cx="76169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Group 22  |  Project 9  |  CSE 573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8055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Arizona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7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Akshith Reddy Vempati  |  Reethika Gogireddy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8D8EA"/>
                </a:solidFill>
              </a:rPr>
              <a:t>Pipeline: TF-IDF + LDA + Sentence-BERT  -&gt;  K-Means + Hierarchical Clustering  -&gt;  ROUGE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